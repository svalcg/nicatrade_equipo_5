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Importe</c:v>
                </c:pt>
              </c:strCache>
            </c:strRef>
          </c:tx>
          <c:dPt>
            <c:idx val="0"/>
            <c:bubble3D val="0"/>
            <c:spPr>
              <a:solidFill>
                <a:srgbClr val="147E99"/>
              </a:solidFill>
            </c:spPr>
            <c:extLst>
              <c:ext xmlns:c16="http://schemas.microsoft.com/office/drawing/2014/chart" uri="{C3380CC4-5D6E-409C-BE32-E72D297353CC}">
                <c16:uniqueId val="{00000001-A645-456E-820A-EDF2C6F5B8B1}"/>
              </c:ext>
            </c:extLst>
          </c:dPt>
          <c:dPt>
            <c:idx val="1"/>
            <c:bubble3D val="0"/>
            <c:spPr>
              <a:solidFill>
                <a:srgbClr val="D7A041"/>
              </a:solidFill>
            </c:spPr>
            <c:extLst>
              <c:ext xmlns:c16="http://schemas.microsoft.com/office/drawing/2014/chart" uri="{C3380CC4-5D6E-409C-BE32-E72D297353CC}">
                <c16:uniqueId val="{00000003-A645-456E-820A-EDF2C6F5B8B1}"/>
              </c:ext>
            </c:extLst>
          </c:dPt>
          <c:dPt>
            <c:idx val="2"/>
            <c:bubble3D val="0"/>
            <c:spPr>
              <a:solidFill>
                <a:srgbClr val="5F9EA0"/>
              </a:solidFill>
            </c:spPr>
            <c:extLst>
              <c:ext xmlns:c16="http://schemas.microsoft.com/office/drawing/2014/chart" uri="{C3380CC4-5D6E-409C-BE32-E72D297353CC}">
                <c16:uniqueId val="{00000005-A645-456E-820A-EDF2C6F5B8B1}"/>
              </c:ext>
            </c:extLst>
          </c:dPt>
          <c:dPt>
            <c:idx val="3"/>
            <c:bubble3D val="0"/>
            <c:spPr>
              <a:solidFill>
                <a:srgbClr val="AE673A"/>
              </a:solidFill>
            </c:spPr>
            <c:extLst>
              <c:ext xmlns:c16="http://schemas.microsoft.com/office/drawing/2014/chart" uri="{C3380CC4-5D6E-409C-BE32-E72D297353CC}">
                <c16:uniqueId val="{00000007-A645-456E-820A-EDF2C6F5B8B1}"/>
              </c:ext>
            </c:extLst>
          </c:dPt>
          <c:dLbls>
            <c:dLbl>
              <c:idx val="1"/>
              <c:layout>
                <c:manualLayout>
                  <c:x val="-5.5593763770765012E-2"/>
                  <c:y val="7.7972709551656874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645-456E-820A-EDF2C6F5B8B1}"/>
                </c:ext>
              </c:extLst>
            </c:dLbl>
            <c:dLbl>
              <c:idx val="2"/>
              <c:layout>
                <c:manualLayout>
                  <c:x val="-2.2649311165867249E-2"/>
                  <c:y val="-1.9493177387914229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645-456E-820A-EDF2C6F5B8B1}"/>
                </c:ext>
              </c:extLst>
            </c:dLbl>
            <c:dLbl>
              <c:idx val="3"/>
              <c:layout>
                <c:manualLayout>
                  <c:x val="3.0885424317091577E-2"/>
                  <c:y val="-1.4619883040935672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645-456E-820A-EDF2C6F5B8B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México</c:v>
                </c:pt>
                <c:pt idx="1">
                  <c:v>Guatemala</c:v>
                </c:pt>
                <c:pt idx="2">
                  <c:v>Costa Rica</c:v>
                </c:pt>
                <c:pt idx="3">
                  <c:v>El Salvador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36919.5</c:v>
                </c:pt>
                <c:pt idx="1">
                  <c:v>1050</c:v>
                </c:pt>
                <c:pt idx="2">
                  <c:v>1152</c:v>
                </c:pt>
                <c:pt idx="3">
                  <c:v>1237.5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645-456E-820A-EDF2C6F5B8B1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5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57453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NicaTrade International · Microproyecto TGI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120640" cy="4389120"/>
          </a:xfrm>
          <a:prstGeom prst="roundRect">
            <a:avLst/>
          </a:prstGeom>
          <a:solidFill>
            <a:srgbClr val="15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228600" cy="4389120"/>
          </a:xfrm>
          <a:prstGeom prst="rect">
            <a:avLst/>
          </a:prstGeom>
          <a:solidFill>
            <a:srgbClr val="D7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5720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FFFFFF"/>
                </a:solidFill>
              </a:defRPr>
            </a:pPr>
            <a:r>
              <a:rPr dirty="0" err="1"/>
              <a:t>Resultados</a:t>
            </a:r>
            <a:br>
              <a:rPr dirty="0"/>
            </a:br>
            <a:r>
              <a:rPr dirty="0"/>
              <a:t>de </a:t>
            </a:r>
            <a:r>
              <a:rPr dirty="0" err="1"/>
              <a:t>Importación</a:t>
            </a:r>
            <a:endParaRPr dirty="0"/>
          </a:p>
          <a:p>
            <a:pPr algn="ctr">
              <a:defRPr sz="2200" b="1">
                <a:solidFill>
                  <a:srgbClr val="E3EFFF"/>
                </a:solidFill>
              </a:defRPr>
            </a:pPr>
            <a:r>
              <a:rPr dirty="0" err="1"/>
              <a:t>NicaTrade</a:t>
            </a:r>
            <a:r>
              <a:rPr dirty="0"/>
              <a:t> International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 err="1"/>
              <a:t>Operación</a:t>
            </a:r>
            <a:r>
              <a:rPr dirty="0"/>
              <a:t> México → Nicaragua</a:t>
            </a:r>
          </a:p>
          <a:p>
            <a:pPr algn="ctr">
              <a:defRPr sz="1400">
                <a:solidFill>
                  <a:srgbClr val="DCE6F1"/>
                </a:solidFill>
              </a:defRPr>
            </a:pPr>
            <a:r>
              <a:rPr dirty="0" err="1"/>
              <a:t>Microproyecto</a:t>
            </a:r>
            <a:r>
              <a:rPr dirty="0"/>
              <a:t>: </a:t>
            </a:r>
            <a:r>
              <a:rPr dirty="0" err="1"/>
              <a:t>Gestión</a:t>
            </a:r>
            <a:r>
              <a:rPr dirty="0"/>
              <a:t> Digital de </a:t>
            </a:r>
            <a:r>
              <a:rPr dirty="0" err="1"/>
              <a:t>Información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4572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1572768"/>
            <a:ext cx="149912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7E99"/>
                </a:solidFill>
              </a:defRPr>
            </a:pPr>
            <a:r>
              <a:rPr dirty="0" err="1"/>
              <a:t>Integrante</a:t>
            </a:r>
            <a:r>
              <a:rPr lang="es-NI" dirty="0"/>
              <a:t>s</a:t>
            </a:r>
            <a:endParaRPr dirty="0"/>
          </a:p>
          <a:p>
            <a:pPr>
              <a:defRPr sz="1800">
                <a:solidFill>
                  <a:srgbClr val="2E2E2E"/>
                </a:solidFill>
              </a:defRPr>
            </a:pPr>
            <a:r>
              <a:rPr lang="es-NI" dirty="0"/>
              <a:t>Scarlett Cerna</a:t>
            </a:r>
          </a:p>
          <a:p>
            <a:pPr>
              <a:defRPr sz="1800">
                <a:solidFill>
                  <a:srgbClr val="2E2E2E"/>
                </a:solidFill>
              </a:defRPr>
            </a:pPr>
            <a:r>
              <a:rPr lang="es-NI" dirty="0"/>
              <a:t>Paola Rivera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583680" y="2560320"/>
            <a:ext cx="4572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2670048"/>
            <a:ext cx="218861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7E99"/>
                </a:solidFill>
              </a:defRPr>
            </a:pPr>
            <a:r>
              <a:rPr dirty="0" err="1"/>
              <a:t>Fecha</a:t>
            </a:r>
            <a:endParaRPr dirty="0"/>
          </a:p>
          <a:p>
            <a:pPr>
              <a:defRPr sz="1800">
                <a:solidFill>
                  <a:srgbClr val="2E2E2E"/>
                </a:solidFill>
              </a:defRPr>
            </a:pPr>
            <a:r>
              <a:rPr lang="es-NI" dirty="0"/>
              <a:t>4</a:t>
            </a:r>
            <a:r>
              <a:rPr dirty="0"/>
              <a:t> de </a:t>
            </a:r>
            <a:r>
              <a:rPr dirty="0" err="1"/>
              <a:t>octubre</a:t>
            </a:r>
            <a:r>
              <a:rPr dirty="0"/>
              <a:t> de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657600"/>
            <a:ext cx="4572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3767328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7E99"/>
                </a:solidFill>
              </a:defRPr>
            </a:pPr>
            <a:r>
              <a:t>Herramientas</a:t>
            </a:r>
          </a:p>
          <a:p>
            <a:pPr>
              <a:defRPr sz="1600">
                <a:solidFill>
                  <a:srgbClr val="2E2E2E"/>
                </a:solidFill>
              </a:defRPr>
            </a:pPr>
            <a:r>
              <a:t>Excel · Word · PowerPoint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846320"/>
            <a:ext cx="2279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E2E2E"/>
                </a:solidFill>
              </a:defRPr>
            </a:pPr>
            <a:r>
              <a:rPr lang="es-NI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5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57453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NicaTrade International · Microproyecto TGI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Empresa y operación analizada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48463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52D4E"/>
                </a:solidFill>
              </a:defRPr>
            </a:pPr>
            <a:r>
              <a:t>Actividad de la empresa</a:t>
            </a:r>
          </a:p>
          <a:p>
            <a:pPr lvl="1">
              <a:spcAft>
                <a:spcPts val="1000"/>
              </a:spcAft>
              <a:defRPr sz="1500">
                <a:solidFill>
                  <a:srgbClr val="2E2E2E"/>
                </a:solidFill>
              </a:defRPr>
            </a:pPr>
            <a:r>
              <a:t>Importación y exportación de productos alimenticios y de consumo en Centroamérica.</a:t>
            </a:r>
          </a:p>
          <a:p>
            <a:pPr>
              <a:spcAft>
                <a:spcPts val="400"/>
              </a:spcAft>
              <a:defRPr sz="1600" b="1">
                <a:solidFill>
                  <a:srgbClr val="152D4E"/>
                </a:solidFill>
              </a:defRPr>
            </a:pPr>
            <a:r>
              <a:t>Operación analizada</a:t>
            </a:r>
          </a:p>
          <a:p>
            <a:pPr lvl="1">
              <a:spcAft>
                <a:spcPts val="1000"/>
              </a:spcAft>
              <a:defRPr sz="1500">
                <a:solidFill>
                  <a:srgbClr val="2E2E2E"/>
                </a:solidFill>
              </a:defRPr>
            </a:pPr>
            <a:r>
              <a:t>Importación internacional desde México hacia Nicaragua, utilizada como base del microproyecto.</a:t>
            </a:r>
          </a:p>
          <a:p>
            <a:pPr>
              <a:spcAft>
                <a:spcPts val="400"/>
              </a:spcAft>
              <a:defRPr sz="1600" b="1">
                <a:solidFill>
                  <a:srgbClr val="152D4E"/>
                </a:solidFill>
              </a:defRPr>
            </a:pPr>
            <a:r>
              <a:t>Productos importados</a:t>
            </a:r>
          </a:p>
          <a:p>
            <a:pPr lvl="1">
              <a:spcAft>
                <a:spcPts val="1000"/>
              </a:spcAft>
              <a:defRPr sz="1500">
                <a:solidFill>
                  <a:srgbClr val="2E2E2E"/>
                </a:solidFill>
              </a:defRPr>
            </a:pPr>
            <a:r>
              <a:t>Se registran 50 productos en categorías como alimentos, bebidas, limpieza, hogar, oficina, tecnología y accesorios.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143000"/>
            <a:ext cx="2514600" cy="1005840"/>
          </a:xfrm>
          <a:prstGeom prst="roundRect">
            <a:avLst/>
          </a:prstGeom>
          <a:solidFill>
            <a:srgbClr val="147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1325880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País de origen principal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México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143000"/>
            <a:ext cx="2514600" cy="1005840"/>
          </a:xfrm>
          <a:prstGeom prst="roundRect">
            <a:avLst/>
          </a:prstGeom>
          <a:solidFill>
            <a:srgbClr val="D7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0" y="1325880"/>
            <a:ext cx="2103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País de destino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Nicaragua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514600"/>
            <a:ext cx="48463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27432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52D4E"/>
                </a:solidFill>
              </a:defRPr>
            </a:pPr>
            <a:r>
              <a:t>Principales categorías registradas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3227832"/>
            <a:ext cx="109728" cy="109728"/>
          </a:xfrm>
          <a:prstGeom prst="ellipse">
            <a:avLst/>
          </a:prstGeom>
          <a:solidFill>
            <a:srgbClr val="147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315468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E2E2E"/>
                </a:solidFill>
              </a:defRPr>
            </a:pPr>
            <a:r>
              <a:t>Alimentos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3730752"/>
            <a:ext cx="109728" cy="109728"/>
          </a:xfrm>
          <a:prstGeom prst="ellipse">
            <a:avLst/>
          </a:prstGeom>
          <a:solidFill>
            <a:srgbClr val="D7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365760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E2E2E"/>
                </a:solidFill>
              </a:defRPr>
            </a:pPr>
            <a:r>
              <a:t>Bebidas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4233672"/>
            <a:ext cx="109728" cy="109728"/>
          </a:xfrm>
          <a:prstGeom prst="ellipse">
            <a:avLst/>
          </a:prstGeom>
          <a:solidFill>
            <a:srgbClr val="147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416052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E2E2E"/>
                </a:solidFill>
              </a:defRPr>
            </a:pPr>
            <a:r>
              <a:t>Limpieza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4736592"/>
            <a:ext cx="109728" cy="109728"/>
          </a:xfrm>
          <a:prstGeom prst="ellipse">
            <a:avLst/>
          </a:prstGeom>
          <a:solidFill>
            <a:srgbClr val="D7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46634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E2E2E"/>
                </a:solidFill>
              </a:defRPr>
            </a:pPr>
            <a:r>
              <a:t>Hogar</a:t>
            </a:r>
          </a:p>
        </p:txBody>
      </p:sp>
      <p:sp>
        <p:nvSpPr>
          <p:cNvPr id="23" name="Oval 22"/>
          <p:cNvSpPr/>
          <p:nvPr/>
        </p:nvSpPr>
        <p:spPr>
          <a:xfrm>
            <a:off x="8321040" y="3227832"/>
            <a:ext cx="109728" cy="109728"/>
          </a:xfrm>
          <a:prstGeom prst="ellipse">
            <a:avLst/>
          </a:prstGeom>
          <a:solidFill>
            <a:srgbClr val="147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315468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E2E2E"/>
                </a:solidFill>
              </a:defRPr>
            </a:pPr>
            <a:r>
              <a:t>Oficina</a:t>
            </a:r>
          </a:p>
        </p:txBody>
      </p:sp>
      <p:sp>
        <p:nvSpPr>
          <p:cNvPr id="25" name="Oval 24"/>
          <p:cNvSpPr/>
          <p:nvPr/>
        </p:nvSpPr>
        <p:spPr>
          <a:xfrm>
            <a:off x="8321040" y="3730752"/>
            <a:ext cx="109728" cy="109728"/>
          </a:xfrm>
          <a:prstGeom prst="ellipse">
            <a:avLst/>
          </a:prstGeom>
          <a:solidFill>
            <a:srgbClr val="D7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85632" y="365760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E2E2E"/>
                </a:solidFill>
              </a:defRPr>
            </a:pPr>
            <a:r>
              <a:t>Tecnología</a:t>
            </a:r>
          </a:p>
        </p:txBody>
      </p:sp>
      <p:sp>
        <p:nvSpPr>
          <p:cNvPr id="27" name="Oval 26"/>
          <p:cNvSpPr/>
          <p:nvPr/>
        </p:nvSpPr>
        <p:spPr>
          <a:xfrm>
            <a:off x="8321040" y="4233672"/>
            <a:ext cx="109728" cy="109728"/>
          </a:xfrm>
          <a:prstGeom prst="ellipse">
            <a:avLst/>
          </a:prstGeom>
          <a:solidFill>
            <a:srgbClr val="147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85632" y="416052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E2E2E"/>
                </a:solidFill>
              </a:defRPr>
            </a:pPr>
            <a:r>
              <a:t>Accesorios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5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57453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NicaTrade International · Microproyecto TGI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Resultados del análisis en Excel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16128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7E99"/>
                </a:solidFill>
              </a:defRPr>
            </a:pPr>
            <a:r>
              <a:t>Total de la operación</a:t>
            </a:r>
          </a:p>
          <a:p>
            <a:pPr>
              <a:defRPr sz="1800" b="1">
                <a:solidFill>
                  <a:srgbClr val="2E2E2E"/>
                </a:solidFill>
              </a:defRPr>
            </a:pPr>
            <a:r>
              <a:t>US$ 40,359.00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0515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92424" y="116128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7E99"/>
                </a:solidFill>
              </a:defRPr>
            </a:pPr>
            <a:r>
              <a:t>Producto con mayor importe</a:t>
            </a:r>
          </a:p>
          <a:p>
            <a:pPr>
              <a:defRPr sz="1800" b="1">
                <a:solidFill>
                  <a:srgbClr val="2E2E2E"/>
                </a:solidFill>
              </a:defRPr>
            </a:pPr>
            <a:r>
              <a:t>Mochilas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0515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464" y="116128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7E99"/>
                </a:solidFill>
              </a:defRPr>
            </a:pPr>
            <a:r>
              <a:t>Importe mayor</a:t>
            </a:r>
          </a:p>
          <a:p>
            <a:pPr>
              <a:defRPr sz="1800" b="1">
                <a:solidFill>
                  <a:srgbClr val="2E2E2E"/>
                </a:solidFill>
              </a:defRPr>
            </a:pPr>
            <a:r>
              <a:t>US$ 1,912.50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0515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04504" y="1161288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7E99"/>
                </a:solidFill>
              </a:defRPr>
            </a:pPr>
            <a:r>
              <a:t>Precio promedio</a:t>
            </a:r>
          </a:p>
          <a:p>
            <a:pPr>
              <a:defRPr sz="1800" b="1">
                <a:solidFill>
                  <a:srgbClr val="2E2E2E"/>
                </a:solidFill>
              </a:defRPr>
            </a:pPr>
            <a:r>
              <a:t>US$ 7.74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64008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69748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52D4E"/>
                </a:solidFill>
              </a:defRPr>
            </a:pPr>
            <a:r>
              <a:t>Distribución del importe por país de origen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757672"/>
              </p:ext>
            </p:extLst>
          </p:nvPr>
        </p:nvGraphicFramePr>
        <p:xfrm>
          <a:off x="126164" y="2898648"/>
          <a:ext cx="6167958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315200" y="2468880"/>
            <a:ext cx="4206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269748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52D4E"/>
                </a:solidFill>
              </a:defRPr>
            </a:pPr>
            <a:r>
              <a:t>Cantidad de productos registrados</a:t>
            </a:r>
          </a:p>
          <a:p>
            <a:pPr>
              <a:spcAft>
                <a:spcPts val="800"/>
              </a:spcAft>
              <a:defRPr sz="1400">
                <a:solidFill>
                  <a:srgbClr val="2E2E2E"/>
                </a:solidFill>
              </a:defRPr>
            </a:pPr>
            <a:r>
              <a:t>50 productos.</a:t>
            </a:r>
          </a:p>
          <a:p>
            <a:pPr>
              <a:spcAft>
                <a:spcPts val="200"/>
              </a:spcAft>
              <a:defRPr sz="1500" b="1">
                <a:solidFill>
                  <a:srgbClr val="152D4E"/>
                </a:solidFill>
              </a:defRPr>
            </a:pPr>
            <a:r>
              <a:t>Importe de productos de México</a:t>
            </a:r>
          </a:p>
          <a:p>
            <a:pPr>
              <a:spcAft>
                <a:spcPts val="800"/>
              </a:spcAft>
              <a:defRPr sz="1400">
                <a:solidFill>
                  <a:srgbClr val="2E2E2E"/>
                </a:solidFill>
              </a:defRPr>
            </a:pPr>
            <a:r>
              <a:t>US$ 36,919.50.</a:t>
            </a:r>
          </a:p>
          <a:p>
            <a:pPr>
              <a:spcAft>
                <a:spcPts val="200"/>
              </a:spcAft>
              <a:defRPr sz="1500" b="1">
                <a:solidFill>
                  <a:srgbClr val="152D4E"/>
                </a:solidFill>
              </a:defRPr>
            </a:pPr>
            <a:r>
              <a:t>Lectura general</a:t>
            </a:r>
          </a:p>
          <a:p>
            <a:pPr>
              <a:spcAft>
                <a:spcPts val="800"/>
              </a:spcAft>
              <a:defRPr sz="1400">
                <a:solidFill>
                  <a:srgbClr val="2E2E2E"/>
                </a:solidFill>
              </a:defRPr>
            </a:pPr>
            <a:r>
              <a:t>México concentra la mayor parte del valor de la operación, lo que confirma su peso principal dentro del análisis realizado.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5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5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57453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NicaTrade International · Microproyecto TGI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67665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6217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E2E2E"/>
                </a:solidFill>
              </a:defRPr>
            </a:pPr>
            <a:r>
              <a:t>• El resultado principal muestra una operación total de US$ 40,359.00, con predominio de productos procedentes de México.</a:t>
            </a:r>
          </a:p>
          <a:p>
            <a:pPr>
              <a:spcAft>
                <a:spcPts val="1800"/>
              </a:spcAft>
              <a:defRPr sz="1800">
                <a:solidFill>
                  <a:srgbClr val="2E2E2E"/>
                </a:solidFill>
              </a:defRPr>
            </a:pPr>
            <a:r>
              <a:t>• El análisis previo de la información permite identificar costos, productos de mayor valor y tomar decisiones comerciales con mayor seguridad.</a:t>
            </a:r>
          </a:p>
          <a:p>
            <a:pPr>
              <a:spcAft>
                <a:spcPts val="1800"/>
              </a:spcAft>
              <a:defRPr sz="1800">
                <a:solidFill>
                  <a:srgbClr val="2E2E2E"/>
                </a:solidFill>
              </a:defRPr>
            </a:pPr>
            <a:r>
              <a:t>• La gestión digital de la información facilita organizar archivos, compartirlos, recuperarlos rápidamente y reducir errores o duplicidad documental.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325880"/>
            <a:ext cx="3429000" cy="1051560"/>
          </a:xfrm>
          <a:prstGeom prst="roundRect">
            <a:avLst/>
          </a:prstGeom>
          <a:solidFill>
            <a:srgbClr val="147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453895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Resultado principal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US$ 40,359.00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788920"/>
            <a:ext cx="3429000" cy="1051560"/>
          </a:xfrm>
          <a:prstGeom prst="roundRect">
            <a:avLst/>
          </a:prstGeom>
          <a:solidFill>
            <a:srgbClr val="D7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2916936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Importancia del análisis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Decisiones mejor fundamentadas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251960"/>
            <a:ext cx="3429000" cy="1051560"/>
          </a:xfrm>
          <a:prstGeom prst="roundRect">
            <a:avLst/>
          </a:prstGeom>
          <a:solidFill>
            <a:srgbClr val="15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4379976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Gestión digital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Organización, acceso y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806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52D4E"/>
                </a:solidFill>
              </a:defRPr>
            </a:pPr>
            <a: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296</Words>
  <Application>Microsoft Office PowerPoint</Application>
  <PresentationFormat>Panorámica</PresentationFormat>
  <Paragraphs>66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valentina cerna</cp:lastModifiedBy>
  <cp:revision>2</cp:revision>
  <dcterms:created xsi:type="dcterms:W3CDTF">2013-01-27T09:14:16Z</dcterms:created>
  <dcterms:modified xsi:type="dcterms:W3CDTF">2026-10-15T06:52:23Z</dcterms:modified>
  <cp:category/>
</cp:coreProperties>
</file>